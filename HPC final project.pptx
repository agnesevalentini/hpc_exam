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21C431-9A8C-4AAF-B8EF-9280E0C5E213}" type="datetimeFigureOut">
              <a:rPr lang="en-GB" smtClean="0"/>
              <a:t>28/02/2026</a:t>
            </a:fld>
            <a:endParaRPr lang="en-GB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49CC8B-C02B-48A3-971B-0AFD0712881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4550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5146E1-C227-AF34-411C-7DA5F85175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C3A1201-8EE2-1FD8-CDB0-FF514A90DC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0CA3F25-4BCD-874B-6B62-9C6712C16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DE63F-52CA-457A-9BA3-B26F08945099}" type="datetimeFigureOut">
              <a:rPr lang="en-GB" smtClean="0"/>
              <a:t>28/02/2026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FCFF970-D27D-22C2-0703-03DDD67EE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061360D-E8AB-F92B-5497-4FB63F4A3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D0495-A75D-4BDA-9A5A-6AEA40B6DFA3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840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65F6D66-3F45-65EF-48CD-428F7E833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C3D8406-B704-886B-95CD-CF64B6179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100F580-C46D-809B-D7A5-9F197070C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DE63F-52CA-457A-9BA3-B26F08945099}" type="datetimeFigureOut">
              <a:rPr lang="en-GB" smtClean="0"/>
              <a:t>28/02/2026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77417F3-680E-A64F-6E22-1AABDCD83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B99549B-B23C-CA7F-9747-095895EFF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D0495-A75D-4BDA-9A5A-6AEA40B6DFA3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6426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7FA6D9-BB35-868B-6446-E70FEE885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6204DE0-AFD7-7E84-A7FA-D84BD0D99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D66CA14-FB3A-8BC8-6B22-5A66F5627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DE63F-52CA-457A-9BA3-B26F08945099}" type="datetimeFigureOut">
              <a:rPr lang="en-GB" smtClean="0"/>
              <a:t>28/02/2026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9174D17-85B7-8FE6-6E58-711294931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8E6F17C-DA14-9C10-D354-3A291A232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D0495-A75D-4BDA-9A5A-6AEA40B6DFA3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1206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4BE0A8-E019-E7D7-C292-F4087DCD4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44101B6-BC39-3D95-9FCB-755F685DEE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426F4DC-03A0-FF40-6371-9D216E6AAC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8C9E6EF-F543-4FFE-703C-9EED927D6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DE63F-52CA-457A-9BA3-B26F08945099}" type="datetimeFigureOut">
              <a:rPr lang="en-GB" smtClean="0"/>
              <a:t>28/02/2026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5301FD0-A51D-7174-9B05-156A3447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5C6F5DE-C17D-042A-62BF-C2F4B02ED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D0495-A75D-4BDA-9A5A-6AEA40B6DFA3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152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B3C9B0-C287-4240-FBA2-D52611FEC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79D41CE-C86E-10F8-7B11-52431F7181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580E5D3-EBF3-C369-F123-18BF23BA9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F2B5367-1551-6F53-CA61-7F355FA4D6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BAFE70C-313C-3D1D-BC61-5C98C8785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97A7FC44-945B-A6B0-F7F0-CA9486BA2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DE63F-52CA-457A-9BA3-B26F08945099}" type="datetimeFigureOut">
              <a:rPr lang="en-GB" smtClean="0"/>
              <a:t>28/02/2026</a:t>
            </a:fld>
            <a:endParaRPr lang="en-GB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07FBFFF9-0AC5-033B-FE75-16B9EB2D8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3DBE948-E36B-B29B-8340-8D8FF5CF9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D0495-A75D-4BDA-9A5A-6AEA40B6DFA3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5164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4E5C10-FF60-8A87-9E84-F308E832B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2E9627C-0171-D63A-F51D-16181BDB9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DE63F-52CA-457A-9BA3-B26F08945099}" type="datetimeFigureOut">
              <a:rPr lang="en-GB" smtClean="0"/>
              <a:t>28/02/2026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87D83BF-143B-EF69-7F62-0B3FAAA2A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0E96AFC-87E2-63C5-610E-84644432F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D0495-A75D-4BDA-9A5A-6AEA40B6DFA3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813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2D51780-4512-D911-255A-881BEBC53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DE63F-52CA-457A-9BA3-B26F08945099}" type="datetimeFigureOut">
              <a:rPr lang="en-GB" smtClean="0"/>
              <a:t>28/02/2026</a:t>
            </a:fld>
            <a:endParaRPr lang="en-GB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D4DD467-5762-087B-F33C-ED2A15B57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56131E1-33AB-D5A6-822B-875053404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D0495-A75D-4BDA-9A5A-6AEA40B6DFA3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8701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09EA751-6E24-F9B5-5BAB-AF32CA915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57724B6-20DA-489E-7942-D0E726A07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7D8E914-F0C3-3732-5FB5-4ED09673EB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7B1B5D9-14C2-6524-6634-75402F005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DE63F-52CA-457A-9BA3-B26F08945099}" type="datetimeFigureOut">
              <a:rPr lang="en-GB" smtClean="0"/>
              <a:t>28/02/2026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4DB53CB-CCEC-8C96-74C8-6980E4513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FA2C0E9-9357-A92A-C09F-DF8872704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D0495-A75D-4BDA-9A5A-6AEA40B6DFA3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3920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1DAE31-EDB8-4B62-8BB4-7BF72F1E2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7F52B58-D890-71B1-8E7C-5D15CFC9A0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384691D-5E7D-8289-3E5B-FD21D2F135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2310D64-2C2E-B631-78F3-67253B187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DE63F-52CA-457A-9BA3-B26F08945099}" type="datetimeFigureOut">
              <a:rPr lang="en-GB" smtClean="0"/>
              <a:t>28/02/2026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39C7493-A140-79E0-B42E-CA93244F4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0C6E4F6-7229-3D82-2F4F-0DBBF4F34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D0495-A75D-4BDA-9A5A-6AEA40B6DFA3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5668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64A9ED-6E8B-9809-5F22-1E5A741FB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5F83EFB-AE9C-0E72-B8F8-BE01C5119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1A15C70-D2DE-9B1E-93DB-69AC7801B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DE63F-52CA-457A-9BA3-B26F08945099}" type="datetimeFigureOut">
              <a:rPr lang="en-GB" smtClean="0"/>
              <a:t>28/02/2026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AB734AA-F95B-680A-6BB5-55C5B29F0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2F285DE-19F8-1EFA-14EF-2EEE29AC4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D0495-A75D-4BDA-9A5A-6AEA40B6DFA3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372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61BD6820-46A1-4252-2D58-380AFD1570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373A5A4-F41D-CA40-435E-DA03429725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B9AA242-ED37-86DF-85ED-E63629808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DE63F-52CA-457A-9BA3-B26F08945099}" type="datetimeFigureOut">
              <a:rPr lang="en-GB" smtClean="0"/>
              <a:t>28/02/2026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0D98644-CAD2-254C-54EE-00A20827A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BDC7BDB-EC15-9046-E8D3-55A539118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D0495-A75D-4BDA-9A5A-6AEA40B6DFA3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289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B495D8D-22F7-7196-D9EB-3E82FACE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02CC0D0-D3F1-DAC6-519E-A904C9FD8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DDD07C2-8D2C-23E8-3D8F-DEBFDE10EB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3DE63F-52CA-457A-9BA3-B26F08945099}" type="datetimeFigureOut">
              <a:rPr lang="en-GB" smtClean="0"/>
              <a:t>28/02/2026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B14EF0A-5537-F5A8-D4C7-769D518B74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1A270EB-C9F9-8871-6298-BD29191EEA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DD0495-A75D-4BDA-9A5A-6AEA40B6DFA3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2127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researchgate.net/journal/International-Journal-of-Numerical-Modelling-Electronic-Networks-Devices-and-Fields-1099-1204?_tp=eyJjb250ZXh0Ijp7ImZpcnN0UGFnZSI6Il9kaXJlY3QiLCJwYWdlIjoicHVibGljYXRpb24iLCJwcmV2aW91c1BhZ2UiOiJfZGlyZWN0In19" TargetMode="Externa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17634E0-54B2-61C9-E99D-B19A71BFCD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0683" y="2182761"/>
            <a:ext cx="6410632" cy="1032234"/>
          </a:xfrm>
        </p:spPr>
        <p:txBody>
          <a:bodyPr/>
          <a:lstStyle/>
          <a:p>
            <a:r>
              <a:rPr lang="en-GB" dirty="0"/>
              <a:t>HPC final project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49E8940-3032-F982-C57F-F6C5E249DF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08090" y="3429000"/>
            <a:ext cx="3175819" cy="901136"/>
          </a:xfrm>
        </p:spPr>
        <p:txBody>
          <a:bodyPr/>
          <a:lstStyle/>
          <a:p>
            <a:r>
              <a:rPr lang="en-GB" dirty="0"/>
              <a:t>Agnese Valentini</a:t>
            </a:r>
          </a:p>
          <a:p>
            <a:r>
              <a:rPr lang="en-GB" dirty="0"/>
              <a:t>Mat. SM3600013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0967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D37D7A2D-3D7C-900C-13B6-60E7E0859EF1}"/>
              </a:ext>
            </a:extLst>
          </p:cNvPr>
          <p:cNvSpPr txBox="1"/>
          <p:nvPr/>
        </p:nvSpPr>
        <p:spPr>
          <a:xfrm>
            <a:off x="1135464" y="793820"/>
            <a:ext cx="32757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Aim of the project</a:t>
            </a:r>
            <a:endParaRPr lang="en-GB" dirty="0"/>
          </a:p>
        </p:txBody>
      </p:sp>
      <p:pic>
        <p:nvPicPr>
          <p:cNvPr id="8" name="Immagine 7" descr="Immagine che contiene Carattere, Blu elettrico, design, logo&#10;&#10;Il contenuto generato dall'IA potrebbe non essere corretto.">
            <a:extLst>
              <a:ext uri="{FF2B5EF4-FFF2-40B4-BE49-F238E27FC236}">
                <a16:creationId xmlns:a16="http://schemas.microsoft.com/office/drawing/2014/main" id="{8080327C-63DD-F50D-EE4D-5A656B23BF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3612" y="1151521"/>
            <a:ext cx="3443408" cy="1200778"/>
          </a:xfrm>
          <a:prstGeom prst="rect">
            <a:avLst/>
          </a:prstGeom>
        </p:spPr>
      </p:pic>
      <p:pic>
        <p:nvPicPr>
          <p:cNvPr id="10" name="Immagine 9" descr="Immagine che contiene Carattere, Elementi grafici, grafica, logo&#10;&#10;Il contenuto generato dall'IA potrebbe non essere corretto.">
            <a:extLst>
              <a:ext uri="{FF2B5EF4-FFF2-40B4-BE49-F238E27FC236}">
                <a16:creationId xmlns:a16="http://schemas.microsoft.com/office/drawing/2014/main" id="{D0B9C8D3-00C1-D588-A13F-E8EEFC23E3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177" y="2813264"/>
            <a:ext cx="3798277" cy="1231472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5D04251-F393-4553-5B41-2B609CBD0B38}"/>
              </a:ext>
            </a:extLst>
          </p:cNvPr>
          <p:cNvSpPr txBox="1"/>
          <p:nvPr/>
        </p:nvSpPr>
        <p:spPr>
          <a:xfrm>
            <a:off x="1034980" y="2049864"/>
            <a:ext cx="55667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Hybrid parallelization of 5 point stencil method using MPI and OpenMP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Run scaling tests on Leonardo supercomputer</a:t>
            </a:r>
          </a:p>
        </p:txBody>
      </p:sp>
      <p:pic>
        <p:nvPicPr>
          <p:cNvPr id="13" name="Immagine 12" descr="Immagine che contiene Elementi grafici, cerchio, Carattere, grafica&#10;&#10;Il contenuto generato dall'IA potrebbe non essere corretto.">
            <a:extLst>
              <a:ext uri="{FF2B5EF4-FFF2-40B4-BE49-F238E27FC236}">
                <a16:creationId xmlns:a16="http://schemas.microsoft.com/office/drawing/2014/main" id="{5C582E69-4427-AA63-F614-570ACDF374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330" y="4505701"/>
            <a:ext cx="3022362" cy="1840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065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012310D1-7523-1A00-5F84-388D47C57A96}"/>
              </a:ext>
            </a:extLst>
          </p:cNvPr>
          <p:cNvSpPr txBox="1"/>
          <p:nvPr/>
        </p:nvSpPr>
        <p:spPr>
          <a:xfrm>
            <a:off x="3182140" y="521492"/>
            <a:ext cx="58277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Discretization of the 2D heat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B48691DC-0CF1-1C74-7BD1-A51B2F6EAC5E}"/>
                  </a:ext>
                </a:extLst>
              </p:cNvPr>
              <p:cNvSpPr txBox="1"/>
              <p:nvPr/>
            </p:nvSpPr>
            <p:spPr>
              <a:xfrm>
                <a:off x="1028832" y="1572512"/>
                <a:ext cx="3146840" cy="6279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B48691DC-0CF1-1C74-7BD1-A51B2F6EAC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832" y="1572512"/>
                <a:ext cx="3146840" cy="6279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85569284-EA49-1A85-96FD-8715025E1CFF}"/>
                  </a:ext>
                </a:extLst>
              </p:cNvPr>
              <p:cNvSpPr txBox="1"/>
              <p:nvPr/>
            </p:nvSpPr>
            <p:spPr>
              <a:xfrm>
                <a:off x="727145" y="3573710"/>
                <a:ext cx="6276933" cy="8246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bSup>
                      <m:r>
                        <a:rPr lang="en-GB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GB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en-GB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  <m:r>
                            <a:rPr lang="en-GB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>
                                  <a:latin typeface="Cambria Math" panose="02040503050406030204" pitchFamily="18" charset="0"/>
                                </a:rPr>
                                <m:t>+1,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  <m:r>
                            <a:rPr lang="en-GB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  <m:r>
                            <a:rPr lang="en-GB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GB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</a:p>
              <a:p>
                <a:endParaRPr lang="en-GB" dirty="0"/>
              </a:p>
            </p:txBody>
          </p:sp>
        </mc:Choice>
        <mc:Fallback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85569284-EA49-1A85-96FD-8715025E1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145" y="3573710"/>
                <a:ext cx="6276933" cy="8246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magine 7" descr="Immagine che contiene diagramma, schermata, testo, cerchio&#10;&#10;Il contenuto generato dall'IA potrebbe non essere corretto.">
            <a:extLst>
              <a:ext uri="{FF2B5EF4-FFF2-40B4-BE49-F238E27FC236}">
                <a16:creationId xmlns:a16="http://schemas.microsoft.com/office/drawing/2014/main" id="{E63A35EB-5D93-E80C-7290-CEE4871F6B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556" y="1579900"/>
            <a:ext cx="3771007" cy="377100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9506BEA2-29F2-51B7-1753-DAB1580ED382}"/>
                  </a:ext>
                </a:extLst>
              </p:cNvPr>
              <p:cNvSpPr txBox="1"/>
              <p:nvPr/>
            </p:nvSpPr>
            <p:spPr>
              <a:xfrm>
                <a:off x="1024088" y="4358403"/>
                <a:ext cx="5071912" cy="18466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b="0" i="1" smtClean="0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GB" sz="1600" dirty="0"/>
                  <a:t> is the heat diffusivity parameter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600" dirty="0"/>
                  <a:t>Each value at the timestep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1600" i="1" dirty="0">
                        <a:latin typeface="Cambria Math" panose="02040503050406030204" pitchFamily="18" charset="0"/>
                      </a:rPr>
                      <m:t>+1 </m:t>
                    </m:r>
                  </m:oMath>
                </a14:m>
                <a:r>
                  <a:rPr lang="en-GB" sz="1600" dirty="0"/>
                  <a:t>at position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6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16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i="1" dirty="0" err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GB" sz="1600" dirty="0"/>
                  <a:t>depends on previous values at time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1600" dirty="0"/>
                  <a:t> at the points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GB" sz="16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16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i="1" dirty="0" err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sz="16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GB" sz="1600" dirty="0"/>
                  <a:t>itself and the fourth surrounding points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−1,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), (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+1,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), (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−1) </m:t>
                    </m:r>
                  </m:oMath>
                </a14:m>
                <a:r>
                  <a:rPr lang="en-GB" sz="1600" dirty="0"/>
                  <a:t>and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+1).</m:t>
                    </m:r>
                  </m:oMath>
                </a14:m>
                <a:endParaRPr lang="en-GB" sz="1600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9506BEA2-29F2-51B7-1753-DAB1580ED3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088" y="4358403"/>
                <a:ext cx="5071912" cy="1846659"/>
              </a:xfrm>
              <a:prstGeom prst="rect">
                <a:avLst/>
              </a:prstGeom>
              <a:blipFill>
                <a:blip r:embed="rId5"/>
                <a:stretch>
                  <a:fillRect l="-481" t="-9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CD2B68D-EDE9-35D6-A45B-3843DABAF436}"/>
              </a:ext>
            </a:extLst>
          </p:cNvPr>
          <p:cNvSpPr txBox="1"/>
          <p:nvPr/>
        </p:nvSpPr>
        <p:spPr>
          <a:xfrm>
            <a:off x="2926505" y="2526468"/>
            <a:ext cx="4342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Time discretization: forward Euler method </a:t>
            </a:r>
          </a:p>
          <a:p>
            <a:r>
              <a:rPr lang="en-GB" sz="1600" dirty="0"/>
              <a:t>Space discretization: central finite differences</a:t>
            </a:r>
          </a:p>
        </p:txBody>
      </p:sp>
      <p:sp>
        <p:nvSpPr>
          <p:cNvPr id="11" name="Freccia in giù 10">
            <a:extLst>
              <a:ext uri="{FF2B5EF4-FFF2-40B4-BE49-F238E27FC236}">
                <a16:creationId xmlns:a16="http://schemas.microsoft.com/office/drawing/2014/main" id="{EA581CFE-5398-43F0-DCDD-6BA5DD618940}"/>
              </a:ext>
            </a:extLst>
          </p:cNvPr>
          <p:cNvSpPr/>
          <p:nvPr/>
        </p:nvSpPr>
        <p:spPr>
          <a:xfrm>
            <a:off x="2007130" y="2380225"/>
            <a:ext cx="524504" cy="1048775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1CBAC42-7665-2B57-98B5-7BF0044BCDD4}"/>
              </a:ext>
            </a:extLst>
          </p:cNvPr>
          <p:cNvSpPr txBox="1"/>
          <p:nvPr/>
        </p:nvSpPr>
        <p:spPr>
          <a:xfrm>
            <a:off x="7004078" y="5591844"/>
            <a:ext cx="53389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Picture taken from </a:t>
            </a:r>
            <a:r>
              <a:rPr lang="en-GB" sz="1100" i="1" dirty="0"/>
              <a:t>Sharma, Mittra,  A finite‐difference‐based technique for numerically efficient computation of capacitance matrices for 2‐dimensional multi‐conductor problems involving thin dielectric coating, </a:t>
            </a:r>
            <a:r>
              <a:rPr lang="en-GB" sz="1100" dirty="0"/>
              <a:t>June 2024 </a:t>
            </a:r>
            <a:r>
              <a:rPr lang="en-GB" sz="1100" u="sng" dirty="0">
                <a:hlinkClick r:id="rId6"/>
              </a:rPr>
              <a:t>International Journal of Numerical Modelling Electronic Networks Devices and Fields</a:t>
            </a:r>
            <a:r>
              <a:rPr lang="en-GB" sz="1100" dirty="0"/>
              <a:t> 37(4)</a:t>
            </a:r>
          </a:p>
          <a:p>
            <a:endParaRPr lang="en-GB" i="1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4964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9326DD3C-A757-2B18-B992-372F4EA69D8E}"/>
              </a:ext>
            </a:extLst>
          </p:cNvPr>
          <p:cNvSpPr txBox="1"/>
          <p:nvPr/>
        </p:nvSpPr>
        <p:spPr>
          <a:xfrm>
            <a:off x="2340077" y="678425"/>
            <a:ext cx="7511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MPI – domain decomposition and memory allocation</a:t>
            </a:r>
          </a:p>
        </p:txBody>
      </p:sp>
    </p:spTree>
    <p:extLst>
      <p:ext uri="{BB962C8B-B14F-4D97-AF65-F5344CB8AC3E}">
        <p14:creationId xmlns:p14="http://schemas.microsoft.com/office/powerpoint/2010/main" val="2438490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E2FE88C3-81AF-591F-34CE-BEA06465B10F}"/>
              </a:ext>
            </a:extLst>
          </p:cNvPr>
          <p:cNvSpPr txBox="1"/>
          <p:nvPr/>
        </p:nvSpPr>
        <p:spPr>
          <a:xfrm>
            <a:off x="3411793" y="717755"/>
            <a:ext cx="5368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MPI – parallelization </a:t>
            </a:r>
          </a:p>
        </p:txBody>
      </p:sp>
    </p:spTree>
    <p:extLst>
      <p:ext uri="{BB962C8B-B14F-4D97-AF65-F5344CB8AC3E}">
        <p14:creationId xmlns:p14="http://schemas.microsoft.com/office/powerpoint/2010/main" val="4118766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19FA6C07-AA68-F484-D516-756BE2B59B7E}"/>
              </a:ext>
            </a:extLst>
          </p:cNvPr>
          <p:cNvSpPr txBox="1"/>
          <p:nvPr/>
        </p:nvSpPr>
        <p:spPr>
          <a:xfrm>
            <a:off x="3991897" y="589935"/>
            <a:ext cx="4522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OpenMP – parallelization </a:t>
            </a:r>
          </a:p>
        </p:txBody>
      </p:sp>
    </p:spTree>
    <p:extLst>
      <p:ext uri="{BB962C8B-B14F-4D97-AF65-F5344CB8AC3E}">
        <p14:creationId xmlns:p14="http://schemas.microsoft.com/office/powerpoint/2010/main" val="1930270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AE5248CA-2591-12DE-E146-20F27DDB20A1}"/>
              </a:ext>
            </a:extLst>
          </p:cNvPr>
          <p:cNvSpPr txBox="1"/>
          <p:nvPr/>
        </p:nvSpPr>
        <p:spPr>
          <a:xfrm>
            <a:off x="4050891" y="609600"/>
            <a:ext cx="34609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Input size for the tests</a:t>
            </a:r>
          </a:p>
        </p:txBody>
      </p:sp>
    </p:spTree>
    <p:extLst>
      <p:ext uri="{BB962C8B-B14F-4D97-AF65-F5344CB8AC3E}">
        <p14:creationId xmlns:p14="http://schemas.microsoft.com/office/powerpoint/2010/main" val="3992946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CAFD91E4-598B-2D44-9F7E-14CD1D1CB2A4}"/>
              </a:ext>
            </a:extLst>
          </p:cNvPr>
          <p:cNvSpPr txBox="1"/>
          <p:nvPr/>
        </p:nvSpPr>
        <p:spPr>
          <a:xfrm>
            <a:off x="4011560" y="825909"/>
            <a:ext cx="42966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Multithread scaling</a:t>
            </a:r>
          </a:p>
        </p:txBody>
      </p:sp>
    </p:spTree>
    <p:extLst>
      <p:ext uri="{BB962C8B-B14F-4D97-AF65-F5344CB8AC3E}">
        <p14:creationId xmlns:p14="http://schemas.microsoft.com/office/powerpoint/2010/main" val="2070378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4DBB555B-83BD-F59F-825A-993045AD612D}"/>
              </a:ext>
            </a:extLst>
          </p:cNvPr>
          <p:cNvSpPr txBox="1"/>
          <p:nvPr/>
        </p:nvSpPr>
        <p:spPr>
          <a:xfrm>
            <a:off x="2969342" y="776748"/>
            <a:ext cx="49849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Strong scaling</a:t>
            </a:r>
          </a:p>
        </p:txBody>
      </p:sp>
    </p:spTree>
    <p:extLst>
      <p:ext uri="{BB962C8B-B14F-4D97-AF65-F5344CB8AC3E}">
        <p14:creationId xmlns:p14="http://schemas.microsoft.com/office/powerpoint/2010/main" val="3621767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62ADE748-503A-BAAE-4212-CC3B68E5D184}"/>
              </a:ext>
            </a:extLst>
          </p:cNvPr>
          <p:cNvSpPr txBox="1"/>
          <p:nvPr/>
        </p:nvSpPr>
        <p:spPr>
          <a:xfrm>
            <a:off x="3628103" y="782720"/>
            <a:ext cx="4798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Weak scaling</a:t>
            </a:r>
          </a:p>
        </p:txBody>
      </p:sp>
    </p:spTree>
    <p:extLst>
      <p:ext uri="{BB962C8B-B14F-4D97-AF65-F5344CB8AC3E}">
        <p14:creationId xmlns:p14="http://schemas.microsoft.com/office/powerpoint/2010/main" val="2714814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379B36CC-D10E-808B-F4C8-AD6015D9400A}"/>
              </a:ext>
            </a:extLst>
          </p:cNvPr>
          <p:cNvSpPr txBox="1"/>
          <p:nvPr/>
        </p:nvSpPr>
        <p:spPr>
          <a:xfrm>
            <a:off x="3795252" y="658761"/>
            <a:ext cx="4925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12242866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832</TotalTime>
  <Words>207</Words>
  <Application>Microsoft Office PowerPoint</Application>
  <PresentationFormat>Widescreen</PresentationFormat>
  <Paragraphs>24</Paragraphs>
  <Slides>11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Tema di Office</vt:lpstr>
      <vt:lpstr>HPC final project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VALENTINI AGNESE [SM3600013]</dc:creator>
  <cp:lastModifiedBy>VALENTINI AGNESE [SM3600013]</cp:lastModifiedBy>
  <cp:revision>2</cp:revision>
  <dcterms:created xsi:type="dcterms:W3CDTF">2026-02-27T08:46:17Z</dcterms:created>
  <dcterms:modified xsi:type="dcterms:W3CDTF">2026-02-28T17:08:52Z</dcterms:modified>
</cp:coreProperties>
</file>